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498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6" name="Group 65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67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68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9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0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71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2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3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4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5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6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7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8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9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0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1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2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3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4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5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6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7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8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9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0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1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2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3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4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5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96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7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8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9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0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1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2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3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4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5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6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7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08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9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0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1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2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3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4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5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6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7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8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9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0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0238" y="1122363"/>
            <a:ext cx="6593681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00238" y="3602038"/>
            <a:ext cx="6593681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801052" y="5410202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00237" y="5410202"/>
            <a:ext cx="384366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15603" y="5410200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5711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8" name="Content Placeholder 2"/>
          <p:cNvSpPr>
            <a:spLocks noGrp="1"/>
          </p:cNvSpPr>
          <p:nvPr>
            <p:ph idx="1"/>
          </p:nvPr>
        </p:nvSpPr>
        <p:spPr>
          <a:xfrm>
            <a:off x="856060" y="2249487"/>
            <a:ext cx="7429499" cy="354171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9" name="Date Placeholder 3"/>
          <p:cNvSpPr>
            <a:spLocks noGrp="1"/>
          </p:cNvSpPr>
          <p:nvPr>
            <p:ph type="dt" sz="half" idx="10"/>
          </p:nvPr>
        </p:nvSpPr>
        <p:spPr>
          <a:xfrm>
            <a:off x="5592691" y="5883277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56059" y="5883276"/>
            <a:ext cx="467948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07241" y="5883275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4881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1419227"/>
            <a:ext cx="74295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4424362"/>
            <a:ext cx="74295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4345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6058" y="2249486"/>
            <a:ext cx="3658792" cy="354171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2249486"/>
            <a:ext cx="3656408" cy="354171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7953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619127"/>
            <a:ext cx="7429500" cy="1477961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8902" y="2249486"/>
            <a:ext cx="3435949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6058" y="3073398"/>
            <a:ext cx="3658793" cy="271780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1992" y="2249485"/>
            <a:ext cx="3433565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3073398"/>
            <a:ext cx="3656408" cy="271780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8017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8204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3897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029" y="609601"/>
            <a:ext cx="2892028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150" y="592666"/>
            <a:ext cx="4418407" cy="5198534"/>
          </a:xfrm>
        </p:spPr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029" y="2249486"/>
            <a:ext cx="2892028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0115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1" y="609600"/>
            <a:ext cx="3753962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32866" y="609600"/>
            <a:ext cx="3452693" cy="5181602"/>
          </a:xfrm>
          <a:prstGeom prst="round2DiagRect">
            <a:avLst>
              <a:gd name="adj1" fmla="val 6074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9" y="2249486"/>
            <a:ext cx="3753964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593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4304665"/>
            <a:ext cx="7434266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56058" y="606426"/>
            <a:ext cx="7434266" cy="3299778"/>
          </a:xfrm>
          <a:prstGeom prst="round2DiagRect">
            <a:avLst>
              <a:gd name="adj1" fmla="val 5101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4" y="5124020"/>
            <a:ext cx="7433144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6304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93" y="609600"/>
            <a:ext cx="7429466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419600"/>
            <a:ext cx="7428344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92898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365557"/>
            <a:ext cx="6564224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309919"/>
            <a:ext cx="74295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696579" y="718458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17473" y="276497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622649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2134042"/>
            <a:ext cx="74295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3" y="4657655"/>
            <a:ext cx="7428379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3414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56060" y="609600"/>
            <a:ext cx="7429499" cy="19050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856058" y="2674463"/>
            <a:ext cx="2397674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856059" y="3360263"/>
            <a:ext cx="2396432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86075" y="2677635"/>
            <a:ext cx="238828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86075" y="3363435"/>
            <a:ext cx="238895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332" y="2674463"/>
            <a:ext cx="2396226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89332" y="3360263"/>
            <a:ext cx="2396226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5704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56059" y="609600"/>
            <a:ext cx="7429499" cy="19050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856060" y="4404596"/>
            <a:ext cx="239643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56060" y="2666998"/>
            <a:ext cx="239643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856060" y="4980859"/>
            <a:ext cx="239643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66790" y="4404596"/>
            <a:ext cx="24003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66790" y="2666998"/>
            <a:ext cx="2399205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65695" y="4980857"/>
            <a:ext cx="24003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426" y="4404595"/>
            <a:ext cx="2393056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89332" y="2666998"/>
            <a:ext cx="2396227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89332" y="4980855"/>
            <a:ext cx="2396226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4244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47487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1" y="609600"/>
            <a:ext cx="1503758" cy="5181601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6057" y="609600"/>
            <a:ext cx="5811443" cy="5181601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510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9041774" cy="6858001"/>
            <a:chOff x="-14288" y="0"/>
            <a:chExt cx="9041774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8352798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60" y="2249487"/>
            <a:ext cx="74294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92691" y="5883277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56059" y="5883276"/>
            <a:ext cx="46794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07241" y="5883275"/>
            <a:ext cx="5783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832539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73" r:id="rId1"/>
    <p:sldLayoutId id="2147483774" r:id="rId2"/>
    <p:sldLayoutId id="2147483775" r:id="rId3"/>
    <p:sldLayoutId id="2147483776" r:id="rId4"/>
    <p:sldLayoutId id="2147483777" r:id="rId5"/>
    <p:sldLayoutId id="2147483778" r:id="rId6"/>
    <p:sldLayoutId id="2147483779" r:id="rId7"/>
    <p:sldLayoutId id="2147483780" r:id="rId8"/>
    <p:sldLayoutId id="2147483781" r:id="rId9"/>
    <p:sldLayoutId id="2147483782" r:id="rId10"/>
    <p:sldLayoutId id="2147483783" r:id="rId11"/>
    <p:sldLayoutId id="2147483784" r:id="rId12"/>
    <p:sldLayoutId id="2147483785" r:id="rId13"/>
    <p:sldLayoutId id="2147483786" r:id="rId14"/>
    <p:sldLayoutId id="2147483787" r:id="rId15"/>
    <p:sldLayoutId id="2147483788" r:id="rId16"/>
    <p:sldLayoutId id="214748378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t>Turismo Emisivo Argentino (2016–2025)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t>Data Science II – Primera Entrega</a:t>
            </a:r>
          </a:p>
          <a:p>
            <a:r>
              <a:t>Santiago Quagliotti</a:t>
            </a:r>
          </a:p>
          <a:p>
            <a:r>
              <a:t>Coderhouse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Contexto y Motivación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lvl="1"/>
            <a:r>
              <a:rPr dirty="0" err="1"/>
              <a:t>Análisis</a:t>
            </a:r>
            <a:r>
              <a:rPr dirty="0"/>
              <a:t> del turismo </a:t>
            </a:r>
            <a:r>
              <a:rPr dirty="0" err="1"/>
              <a:t>emisivo</a:t>
            </a:r>
            <a:r>
              <a:rPr dirty="0"/>
              <a:t> </a:t>
            </a:r>
            <a:r>
              <a:rPr dirty="0" err="1"/>
              <a:t>argentino</a:t>
            </a:r>
            <a:endParaRPr dirty="0"/>
          </a:p>
          <a:p>
            <a:pPr lvl="1"/>
            <a:r>
              <a:rPr dirty="0" err="1"/>
              <a:t>Impacto</a:t>
            </a:r>
            <a:r>
              <a:rPr dirty="0"/>
              <a:t> </a:t>
            </a:r>
            <a:r>
              <a:rPr dirty="0" err="1"/>
              <a:t>macroeconómico</a:t>
            </a:r>
            <a:r>
              <a:rPr dirty="0"/>
              <a:t> y </a:t>
            </a:r>
            <a:r>
              <a:rPr dirty="0" err="1"/>
              <a:t>estacionalidad</a:t>
            </a:r>
            <a:endParaRPr dirty="0"/>
          </a:p>
          <a:p>
            <a:pPr lvl="1"/>
            <a:r>
              <a:rPr dirty="0" err="1"/>
              <a:t>Relevancia</a:t>
            </a:r>
            <a:r>
              <a:rPr dirty="0"/>
              <a:t> para </a:t>
            </a:r>
            <a:r>
              <a:rPr dirty="0" err="1"/>
              <a:t>agencias</a:t>
            </a:r>
            <a:r>
              <a:rPr dirty="0"/>
              <a:t> y </a:t>
            </a:r>
            <a:r>
              <a:rPr dirty="0" err="1"/>
              <a:t>planificación</a:t>
            </a:r>
            <a:r>
              <a:rPr dirty="0"/>
              <a:t> </a:t>
            </a:r>
            <a:r>
              <a:rPr dirty="0" err="1"/>
              <a:t>comercial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Preguntas de Investigación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lvl="1"/>
            <a:r>
              <a:t>¿Existe estacionalidad en los viajes?</a:t>
            </a:r>
          </a:p>
          <a:p>
            <a:pPr lvl="1"/>
            <a:r>
              <a:t>¿Cuáles son los destinos más elegidos?</a:t>
            </a:r>
          </a:p>
          <a:p>
            <a:pPr lvl="1"/>
            <a:r>
              <a:t>¿Cómo influyen dólar y salarios?</a:t>
            </a:r>
          </a:p>
          <a:p>
            <a:pPr lvl="1"/>
            <a:r>
              <a:t>¿Qué destinos son más sensibles al tipo de cambio?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Fuentes de Datos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lvl="1"/>
            <a:r>
              <a:t>Dataset turismo emisivo (2016–2025)</a:t>
            </a:r>
          </a:p>
          <a:p>
            <a:pPr lvl="1"/>
            <a:r>
              <a:t>API ArgentinaDatos – Tipo de cambio</a:t>
            </a:r>
          </a:p>
          <a:p>
            <a:pPr lvl="1"/>
            <a:r>
              <a:t>API ArgentinaDatos – Feriados</a:t>
            </a:r>
          </a:p>
          <a:p>
            <a:pPr lvl="1"/>
            <a:r>
              <a:t>API datos.gob.ar – Índice de salarios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Hallazgo 1: Estacionalidad Marcada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70380" y="1494388"/>
            <a:ext cx="5139467" cy="1934612"/>
          </a:xfrm>
        </p:spPr>
        <p:txBody>
          <a:bodyPr/>
          <a:lstStyle/>
          <a:p>
            <a:endParaRPr dirty="0"/>
          </a:p>
          <a:p>
            <a:pPr lvl="1"/>
            <a:r>
              <a:rPr dirty="0" err="1"/>
              <a:t>Picos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verano</a:t>
            </a:r>
            <a:r>
              <a:rPr dirty="0"/>
              <a:t> (</a:t>
            </a:r>
            <a:r>
              <a:rPr dirty="0" err="1"/>
              <a:t>enero</a:t>
            </a:r>
            <a:r>
              <a:rPr dirty="0"/>
              <a:t>–</a:t>
            </a:r>
            <a:r>
              <a:rPr dirty="0" err="1"/>
              <a:t>febrero</a:t>
            </a:r>
            <a:r>
              <a:rPr dirty="0"/>
              <a:t>)</a:t>
            </a:r>
          </a:p>
          <a:p>
            <a:pPr lvl="1"/>
            <a:r>
              <a:rPr dirty="0" err="1"/>
              <a:t>Comportamiento</a:t>
            </a:r>
            <a:r>
              <a:rPr dirty="0"/>
              <a:t> </a:t>
            </a:r>
            <a:r>
              <a:rPr dirty="0" err="1"/>
              <a:t>cíclico</a:t>
            </a:r>
            <a:r>
              <a:rPr dirty="0"/>
              <a:t> </a:t>
            </a:r>
            <a:r>
              <a:rPr dirty="0" err="1"/>
              <a:t>anual</a:t>
            </a:r>
            <a:endParaRPr dirty="0"/>
          </a:p>
          <a:p>
            <a:pPr lvl="1"/>
            <a:r>
              <a:rPr dirty="0" err="1"/>
              <a:t>Fuerte</a:t>
            </a:r>
            <a:r>
              <a:rPr dirty="0"/>
              <a:t> </a:t>
            </a:r>
            <a:r>
              <a:rPr dirty="0" err="1"/>
              <a:t>caída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2020 (</a:t>
            </a:r>
            <a:r>
              <a:rPr dirty="0" err="1"/>
              <a:t>pandemia</a:t>
            </a:r>
            <a:r>
              <a:rPr dirty="0"/>
              <a:t>)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042A492-F90F-4EB9-A948-7EBF84F981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02" y="3221610"/>
            <a:ext cx="4487159" cy="2668535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861D41F0-D847-4291-A0E5-806BB3F090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8086" y="3221609"/>
            <a:ext cx="4496298" cy="266853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Hallazgo 2: Concentración Regional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14503" y="1758339"/>
            <a:ext cx="6319171" cy="1541044"/>
          </a:xfrm>
        </p:spPr>
        <p:txBody>
          <a:bodyPr>
            <a:normAutofit fontScale="92500" lnSpcReduction="20000"/>
          </a:bodyPr>
          <a:lstStyle/>
          <a:p>
            <a:endParaRPr dirty="0"/>
          </a:p>
          <a:p>
            <a:pPr lvl="1"/>
            <a:r>
              <a:rPr dirty="0" err="1"/>
              <a:t>Predominio</a:t>
            </a:r>
            <a:r>
              <a:rPr dirty="0"/>
              <a:t> de </a:t>
            </a:r>
            <a:r>
              <a:rPr dirty="0" err="1"/>
              <a:t>destinos</a:t>
            </a:r>
            <a:r>
              <a:rPr dirty="0"/>
              <a:t> </a:t>
            </a:r>
            <a:r>
              <a:rPr dirty="0" err="1"/>
              <a:t>limítrofes</a:t>
            </a:r>
            <a:endParaRPr dirty="0"/>
          </a:p>
          <a:p>
            <a:pPr lvl="1"/>
            <a:r>
              <a:rPr dirty="0"/>
              <a:t>Alta </a:t>
            </a:r>
            <a:r>
              <a:rPr dirty="0" err="1"/>
              <a:t>influencia</a:t>
            </a:r>
            <a:r>
              <a:rPr dirty="0"/>
              <a:t> de </a:t>
            </a:r>
            <a:r>
              <a:rPr dirty="0" err="1"/>
              <a:t>proximidad</a:t>
            </a:r>
            <a:r>
              <a:rPr dirty="0"/>
              <a:t> </a:t>
            </a:r>
            <a:r>
              <a:rPr dirty="0" err="1"/>
              <a:t>geográfica</a:t>
            </a:r>
            <a:endParaRPr dirty="0"/>
          </a:p>
          <a:p>
            <a:pPr lvl="1"/>
            <a:r>
              <a:rPr dirty="0" err="1"/>
              <a:t>Demanda</a:t>
            </a:r>
            <a:r>
              <a:rPr dirty="0"/>
              <a:t> </a:t>
            </a:r>
            <a:r>
              <a:rPr dirty="0" err="1"/>
              <a:t>concentrada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pocos</a:t>
            </a:r>
            <a:r>
              <a:rPr dirty="0"/>
              <a:t> </a:t>
            </a:r>
            <a:r>
              <a:rPr dirty="0" err="1"/>
              <a:t>destinos</a:t>
            </a:r>
            <a:endParaRPr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95C57C0-398D-45CA-ADF1-0A7523D991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510" y="3537177"/>
            <a:ext cx="4840850" cy="286810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Hallazgo 3: Estructura Modal Dual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38606" y="1853248"/>
            <a:ext cx="6200747" cy="1400531"/>
          </a:xfrm>
        </p:spPr>
        <p:txBody>
          <a:bodyPr>
            <a:normAutofit fontScale="85000" lnSpcReduction="20000"/>
          </a:bodyPr>
          <a:lstStyle/>
          <a:p>
            <a:endParaRPr dirty="0"/>
          </a:p>
          <a:p>
            <a:pPr lvl="1"/>
            <a:r>
              <a:rPr dirty="0" err="1"/>
              <a:t>Transporte</a:t>
            </a:r>
            <a:r>
              <a:rPr dirty="0"/>
              <a:t> </a:t>
            </a:r>
            <a:r>
              <a:rPr dirty="0" err="1"/>
              <a:t>terrestre</a:t>
            </a:r>
            <a:r>
              <a:rPr dirty="0"/>
              <a:t> → </a:t>
            </a:r>
            <a:r>
              <a:rPr dirty="0" err="1"/>
              <a:t>viajes</a:t>
            </a:r>
            <a:r>
              <a:rPr dirty="0"/>
              <a:t> </a:t>
            </a:r>
            <a:r>
              <a:rPr dirty="0" err="1"/>
              <a:t>regionales</a:t>
            </a:r>
            <a:endParaRPr dirty="0"/>
          </a:p>
          <a:p>
            <a:pPr lvl="1"/>
            <a:r>
              <a:rPr dirty="0" err="1"/>
              <a:t>Transporte</a:t>
            </a:r>
            <a:r>
              <a:rPr dirty="0"/>
              <a:t> </a:t>
            </a:r>
            <a:r>
              <a:rPr dirty="0" err="1"/>
              <a:t>aéreo</a:t>
            </a:r>
            <a:r>
              <a:rPr dirty="0"/>
              <a:t> → </a:t>
            </a:r>
            <a:r>
              <a:rPr lang="es-ES" dirty="0"/>
              <a:t>Brasil y </a:t>
            </a:r>
            <a:r>
              <a:rPr dirty="0" err="1"/>
              <a:t>destinos</a:t>
            </a:r>
            <a:r>
              <a:rPr dirty="0"/>
              <a:t> </a:t>
            </a:r>
            <a:r>
              <a:rPr dirty="0" err="1"/>
              <a:t>lejanos</a:t>
            </a:r>
            <a:endParaRPr dirty="0"/>
          </a:p>
          <a:p>
            <a:pPr lvl="1"/>
            <a:r>
              <a:rPr dirty="0" err="1"/>
              <a:t>Dependencia</a:t>
            </a:r>
            <a:r>
              <a:rPr dirty="0"/>
              <a:t> </a:t>
            </a:r>
            <a:r>
              <a:rPr dirty="0" err="1"/>
              <a:t>aérea</a:t>
            </a:r>
            <a:r>
              <a:rPr dirty="0"/>
              <a:t> </a:t>
            </a:r>
            <a:r>
              <a:rPr dirty="0" err="1"/>
              <a:t>casi</a:t>
            </a:r>
            <a:r>
              <a:rPr dirty="0"/>
              <a:t> total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larga</a:t>
            </a:r>
            <a:r>
              <a:rPr dirty="0"/>
              <a:t> </a:t>
            </a:r>
            <a:r>
              <a:rPr dirty="0" err="1"/>
              <a:t>distancia</a:t>
            </a:r>
            <a:endParaRPr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A764013-65D5-4E8C-A30E-8816889871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884" y="3428999"/>
            <a:ext cx="4305116" cy="3075495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3A9AA6B9-3A0F-4FF3-98BA-0D08152807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6778" y="3429000"/>
            <a:ext cx="3780149" cy="30449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Hallazgo 4: Sensibilidad Cambiaria Heterogénea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59296" y="1853248"/>
            <a:ext cx="5582527" cy="1483841"/>
          </a:xfrm>
        </p:spPr>
        <p:txBody>
          <a:bodyPr>
            <a:normAutofit fontScale="85000" lnSpcReduction="10000"/>
          </a:bodyPr>
          <a:lstStyle/>
          <a:p>
            <a:endParaRPr dirty="0"/>
          </a:p>
          <a:p>
            <a:pPr lvl="1"/>
            <a:r>
              <a:rPr dirty="0" err="1"/>
              <a:t>Destinos</a:t>
            </a:r>
            <a:r>
              <a:rPr dirty="0"/>
              <a:t> </a:t>
            </a:r>
            <a:r>
              <a:rPr dirty="0" err="1"/>
              <a:t>regionales</a:t>
            </a:r>
            <a:r>
              <a:rPr dirty="0"/>
              <a:t> </a:t>
            </a:r>
            <a:r>
              <a:rPr dirty="0" err="1"/>
              <a:t>más</a:t>
            </a:r>
            <a:r>
              <a:rPr dirty="0"/>
              <a:t> </a:t>
            </a:r>
            <a:r>
              <a:rPr dirty="0" err="1"/>
              <a:t>resilientes</a:t>
            </a:r>
            <a:endParaRPr dirty="0"/>
          </a:p>
          <a:p>
            <a:pPr lvl="1"/>
            <a:r>
              <a:rPr dirty="0"/>
              <a:t>Europa </a:t>
            </a:r>
            <a:r>
              <a:rPr dirty="0" err="1"/>
              <a:t>muestra</a:t>
            </a:r>
            <a:r>
              <a:rPr dirty="0"/>
              <a:t> </a:t>
            </a:r>
            <a:r>
              <a:rPr dirty="0" err="1"/>
              <a:t>dinámica</a:t>
            </a:r>
            <a:r>
              <a:rPr dirty="0"/>
              <a:t> </a:t>
            </a:r>
            <a:r>
              <a:rPr dirty="0" err="1"/>
              <a:t>distinta</a:t>
            </a:r>
            <a:endParaRPr dirty="0"/>
          </a:p>
          <a:p>
            <a:pPr lvl="1"/>
            <a:r>
              <a:rPr dirty="0"/>
              <a:t>No </a:t>
            </a:r>
            <a:r>
              <a:rPr dirty="0" err="1"/>
              <a:t>todos</a:t>
            </a:r>
            <a:r>
              <a:rPr dirty="0"/>
              <a:t> </a:t>
            </a:r>
            <a:r>
              <a:rPr dirty="0" err="1"/>
              <a:t>reaccionan</a:t>
            </a:r>
            <a:r>
              <a:rPr dirty="0"/>
              <a:t> </a:t>
            </a:r>
            <a:r>
              <a:rPr dirty="0" err="1"/>
              <a:t>igual</a:t>
            </a:r>
            <a:r>
              <a:rPr dirty="0"/>
              <a:t> al </a:t>
            </a:r>
            <a:r>
              <a:rPr dirty="0" err="1"/>
              <a:t>dólar</a:t>
            </a:r>
            <a:endParaRPr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166B1A3-4FF2-4EC5-8428-4E8EB82F85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4807" y="3520912"/>
            <a:ext cx="4988051" cy="310888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Modelo Econométrico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lvl="1"/>
            <a:r>
              <a:t>Variables: dólar %, salario %, feriados</a:t>
            </a:r>
          </a:p>
          <a:p>
            <a:pPr lvl="1"/>
            <a:r>
              <a:t>R² bajo (0.07)</a:t>
            </a:r>
          </a:p>
          <a:p>
            <a:pPr lvl="1"/>
            <a:r>
              <a:t>Feriados resultan significativos</a:t>
            </a:r>
          </a:p>
          <a:p>
            <a:pPr lvl="1"/>
            <a:r>
              <a:t>Efectos macroeconómicos limitados en el corto plazo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lvl="1"/>
            <a:r>
              <a:t>Turismo emisivo es estructuralmente estacional</a:t>
            </a:r>
          </a:p>
          <a:p>
            <a:pPr lvl="1"/>
            <a:r>
              <a:t>Alta concentración regional</a:t>
            </a:r>
          </a:p>
          <a:p>
            <a:pPr lvl="1"/>
            <a:r>
              <a:t>Impacto macroeconómico parcial</a:t>
            </a:r>
          </a:p>
          <a:p>
            <a:pPr lvl="1"/>
            <a:r>
              <a:t>Fenómeno multidimensional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o">
  <a:themeElements>
    <a:clrScheme name="Circuito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o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o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TM04033919[[fn=Circuito]]</Template>
  <TotalTime>31</TotalTime>
  <Words>223</Words>
  <Application>Microsoft Office PowerPoint</Application>
  <PresentationFormat>Presentación en pantalla (4:3)</PresentationFormat>
  <Paragraphs>53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3" baseType="lpstr">
      <vt:lpstr>Arial</vt:lpstr>
      <vt:lpstr>Tw Cen MT</vt:lpstr>
      <vt:lpstr>Circuito</vt:lpstr>
      <vt:lpstr>Turismo Emisivo Argentino (2016–2025)</vt:lpstr>
      <vt:lpstr>Contexto y Motivación</vt:lpstr>
      <vt:lpstr>Preguntas de Investigación</vt:lpstr>
      <vt:lpstr>Fuentes de Datos</vt:lpstr>
      <vt:lpstr>Hallazgo 1: Estacionalidad Marcada</vt:lpstr>
      <vt:lpstr>Hallazgo 2: Concentración Regional</vt:lpstr>
      <vt:lpstr>Hallazgo 3: Estructura Modal Dual</vt:lpstr>
      <vt:lpstr>Hallazgo 4: Sensibilidad Cambiaria Heterogénea</vt:lpstr>
      <vt:lpstr>Modelo Econométrico</vt:lpstr>
      <vt:lpstr>Conclusiones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Turismo Emisivo Argentino (2016–2025)</dc:title>
  <dc:subject/>
  <dc:creator/>
  <cp:keywords/>
  <dc:description>generated using python-pptx</dc:description>
  <cp:lastModifiedBy>Santiago Quagliotti</cp:lastModifiedBy>
  <cp:revision>4</cp:revision>
  <dcterms:created xsi:type="dcterms:W3CDTF">2013-01-27T09:14:16Z</dcterms:created>
  <dcterms:modified xsi:type="dcterms:W3CDTF">2026-02-16T22:57:37Z</dcterms:modified>
  <cp:category/>
</cp:coreProperties>
</file>